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312E81"/>
          </a:solidFill>
          <a:ln/>
        </p:spPr>
      </p:sp>
      <p:pic>
        <p:nvPicPr>
          <p:cNvPr id="4" name="Image 0" descr="/home/claude/pptx_work/imgs/sigmoid_curve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818120" y="2148840"/>
            <a:ext cx="42062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NOTES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Logistic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Notes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Intermediate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41248" y="4434840"/>
            <a:ext cx="4754880" cy="0"/>
          </a:xfrm>
          <a:prstGeom prst="line">
            <a:avLst/>
          </a:prstGeom>
          <a:noFill/>
          <a:ln w="19050">
            <a:solidFill>
              <a:srgbClr val="312E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  </a:t>
            </a:r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   </a:t>
            </a:r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Straight Line to a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fails at classification, and why we keep its equation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93592" y="320040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linear score (logit) into a bounded probability, and a decision boundary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55664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Model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55664" y="320040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cost, cross-entropy, and why Maximum Likelihood replaces MSE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13-14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17736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17736" y="320040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and the full end-to-end training workflow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" name="Image 0" descr="/home/claude/pptx_work/imgs/icon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34440" y="658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Linear Regression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House Price (a continuous output).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760720" cy="146304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Size (x₁)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 (x₂)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Lakhs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Lakhs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Lakhs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657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Equation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02336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4023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β₀ + β₁x₁ + β₂x₂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48640" y="48463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Intercept   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Weight of House Size   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Weight of Bedrooms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720840" y="1417320"/>
            <a:ext cx="4892040" cy="4206240"/>
          </a:xfrm>
          <a:prstGeom prst="roundRect">
            <a:avLst>
              <a:gd name="adj" fmla="val 2174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4088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EXAMPLE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4088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β₀=5, β₁=0.03, β₂=4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040880" y="2606040"/>
            <a:ext cx="3977640" cy="0"/>
          </a:xfrm>
          <a:prstGeom prst="line">
            <a:avLst/>
          </a:prstGeom>
          <a:noFill/>
          <a:ln w="12700">
            <a:solidFill>
              <a:srgbClr val="312E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5 + 0.03(1500) + 4(3)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040880" y="3246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62 Lakhs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7040880" y="4114800"/>
            <a:ext cx="3977640" cy="0"/>
          </a:xfrm>
          <a:prstGeom prst="line">
            <a:avLst/>
          </a:prstGeom>
          <a:noFill/>
          <a:ln w="12700">
            <a:solidFill>
              <a:srgbClr val="312E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40880" y="4297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works because price is continuous.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" name="Image 0" descr="/home/claude/pptx_work/imgs/icon_conv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the Problem into Classification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Pass (1) or Fail (0).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760720" cy="265176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(x₁)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(x₂)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720840" y="1463040"/>
            <a:ext cx="4892040" cy="4434840"/>
          </a:xfrm>
          <a:prstGeom prst="roundRect">
            <a:avLst>
              <a:gd name="adj" fmla="val 206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04088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2194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 longer a smooth continuous number like price. It's a binary label — exactly two possible outcomes: Pass or Fail.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040880" y="365760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740664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—  Fail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040880" y="406908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0"/>
          <p:cNvSpPr/>
          <p:nvPr/>
        </p:nvSpPr>
        <p:spPr>
          <a:xfrm>
            <a:off x="740664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Pass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040880" y="4572000"/>
            <a:ext cx="3977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40880" y="4754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problem Linear Regression was never designed for.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" name="Image 0" descr="/home/claude/pptx_work/img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Linear Regression Fails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 = β₀ + β₁x₁ + β₂x₂ with β₀=-4, β₁=1.5, β₂=0.05: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= 6, Attendance = 95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0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9.75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37760" y="1965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E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26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= 0, Attendance = 20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5760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-3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160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predicts values from (-∞, +∞), but classification requires probabilities between 0 and 1.</a:t>
            </a:r>
            <a:endParaRPr lang="en-US" sz="1400" dirty="0"/>
          </a:p>
        </p:txBody>
      </p:sp>
      <p:pic>
        <p:nvPicPr>
          <p:cNvPr id="16" name="Image 1" descr="/home/claude/pptx_work/imgs/compare_linear_logis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4983480" cy="21214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75120" y="36118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can predict values outside [0, 1]; Logistic Regression stays bounded.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" name="Image 0" descr="/home/claude/pptx_work/imgs/icon_eq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Equation — Meet the Logit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Keep the Linear Equation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kept the linear equation because β coefficients measure feature importance.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output transformation changes.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480060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β₀, β₁, β₂ keep the same meaning — only what happens to their output changes next.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Linear Score (Logit)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output as z: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274320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312E81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2743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β₀ + β₁x₁ + β₂x₂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00800" y="3794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called the Linear Score or Logit. It is an intermediate score — not the final prediction.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" name="Image 0" descr="/home/claude/pptx_work/imgs/icon_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Function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converts any real number into a probability.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74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 / (1 + e^-z)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always between 0 and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 →  P = 0.5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z → Probability near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negative z → Probability near 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9.75  →  </a:t>
            </a:r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0.99994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212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-1  →  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0.269</a:t>
            </a:r>
            <a:endParaRPr lang="en-US" sz="1400" dirty="0"/>
          </a:p>
        </p:txBody>
      </p:sp>
      <p:pic>
        <p:nvPicPr>
          <p:cNvPr id="14" name="Image 1" descr="/home/claude/pptx_work/imgs/sigmoi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776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(Y-axis: 0 to 1) vs. z (X-axis) — the classic S-shaped curve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home/claude/pptx_work/imgs/icon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Boundary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obtaining the probability, we choose a threshold. The threshold is called the Decision Boundary — it separates the two classes.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≥ 0.5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94560" y="3337560"/>
            <a:ext cx="22860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520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= 1  (Pass)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309360" y="246888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&lt; 0.5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680960" y="3337560"/>
            <a:ext cx="22860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520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= 0  (Fail)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sits at the exact midpoint of the sigmoid curve — where z = 0 and P = 0.5.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/home/claude/pptx_work/imgs/ico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8 - 9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 &amp; Cost Function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Function measures the error for a single training example.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480060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703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prediction </a:t>
            </a:r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loss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prediction </a:t>
            </a:r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 loss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Function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Function is the average loss over all training samples.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0" y="3520440"/>
            <a:ext cx="4846320" cy="0"/>
          </a:xfrm>
          <a:prstGeom prst="line">
            <a:avLst/>
          </a:prstGeom>
          <a:noFill/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703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aims to minimize the cost by finding the best β₀, β₁, β₂ values.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" name="Image 0" descr="/home/claude/pptx_work/imgs/icon_not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Mean Squared Error (MSE)?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does not use MSE because it creates a non-convex optimization problem, making optimization difficult.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05840" y="402336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0" name="Shape 7"/>
          <p:cNvSpPr/>
          <p:nvPr/>
        </p:nvSpPr>
        <p:spPr>
          <a:xfrm>
            <a:off x="1737360" y="429768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1" name="Shape 8"/>
          <p:cNvSpPr/>
          <p:nvPr/>
        </p:nvSpPr>
        <p:spPr>
          <a:xfrm>
            <a:off x="2468880" y="393192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0" y="434340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3" name="Shape 10"/>
          <p:cNvSpPr/>
          <p:nvPr/>
        </p:nvSpPr>
        <p:spPr>
          <a:xfrm>
            <a:off x="3931920" y="384048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local minima — hard to optimize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6002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423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Logistic Regression uses Cross-Entropy Loss — a smooth, convex function with a single global minimum.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63840" y="4160520"/>
            <a:ext cx="1463040" cy="822960"/>
          </a:xfrm>
          <a:prstGeom prst="ellipse">
            <a:avLst/>
          </a:prstGeom>
          <a:solidFill>
            <a:srgbClr val="A7F3D0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5120" y="4023360"/>
            <a:ext cx="1188720" cy="0"/>
          </a:xfrm>
          <a:prstGeom prst="line">
            <a:avLst/>
          </a:prstGeom>
          <a:noFill/>
          <a:ln w="38100">
            <a:solidFill>
              <a:srgbClr val="6EE7B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global minimum — easy to optimize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" name="Image 0" descr="/home/claude/pptx_work/imgs/icon_crossentr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 Loss (Log Loss)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sample: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488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-[ y · log(p)  +  (1 - y) · log(1 - p) ]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predicts the correct probability, loss is very small. Wrong, confident predictions produce a large loss.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463040" y="4434840"/>
            <a:ext cx="4572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73736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Confident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73736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1,  p = 0.98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73736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≈ 0.02  (tiny)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4434840"/>
            <a:ext cx="4572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&amp; Confident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85800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1,  p = 0.02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≈ 3.91  (huge)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/home/claude/pptx_work/imgs/icon_m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Likelihood Estimation (MLE)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minimizing squared error, Logistic Regression maximizes the likelihood of observing the training data.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MLE Does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chooses β values that make the observed labels most probable.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89320" y="2514600"/>
            <a:ext cx="5623560" cy="3108960"/>
          </a:xfrm>
          <a:prstGeom prst="roundRect">
            <a:avLst>
              <a:gd name="adj" fmla="val 294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63640" y="3291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likelihood is mathematically equivalent to minimizing Cross-Entropy Loss.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63640" y="4572000"/>
            <a:ext cx="5029200" cy="0"/>
          </a:xfrm>
          <a:prstGeom prst="line">
            <a:avLst/>
          </a:prstGeom>
          <a:noFill/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4754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  ≡  Min. Cross-Entropy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" name="Image 0" descr="/home/claude/pptx_work/imgs/icon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algorithm used to update β values.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938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β values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4505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z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935224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9077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Sigmoid to get probability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419856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3924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Cross-Entropy Loss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04488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3877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38912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43616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β values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487375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51560" y="4846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cost stops decreasing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675120" y="196596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9494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49440" y="2697480"/>
            <a:ext cx="4389120" cy="868680"/>
          </a:xfrm>
          <a:prstGeom prst="roundRect">
            <a:avLst>
              <a:gd name="adj" fmla="val 7368"/>
            </a:avLst>
          </a:prstGeom>
          <a:solidFill>
            <a:srgbClr val="312E81"/>
          </a:solidFill>
          <a:ln/>
        </p:spPr>
      </p:sp>
      <p:sp>
        <p:nvSpPr>
          <p:cNvPr id="31" name="Text 28"/>
          <p:cNvSpPr/>
          <p:nvPr/>
        </p:nvSpPr>
        <p:spPr>
          <a:xfrm>
            <a:off x="6949440" y="26974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β_new = β_old - α × Gradient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94944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Learning Rate — it controls how big each update step is.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949440" y="4800600"/>
            <a:ext cx="4389120" cy="0"/>
          </a:xfrm>
          <a:prstGeom prst="line">
            <a:avLst/>
          </a:prstGeom>
          <a:noFill/>
          <a:ln w="12700">
            <a:solidFill>
              <a:srgbClr val="312E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4937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α → overshoots.  Too small α → slow convergence.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" name="Image 0" descr="/home/claude/pptx_work/imgs/icon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Workflow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pipeline, from raw training data to the final Pass / Fail decision.</a:t>
            </a:r>
            <a:endParaRPr lang="en-US" sz="1450" dirty="0"/>
          </a:p>
        </p:txBody>
      </p:sp>
      <p:pic>
        <p:nvPicPr>
          <p:cNvPr id="7" name="Image 1" descr="/home/claude/pptx_work/imgs/workflow_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1161288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3" name="Image 0" descr="/home/claude/pptx_work/imgs/icon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Summary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84632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β₀, β₁, β₂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parameters (weights)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Score / Logit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Sigmoid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score to 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Probability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belonging to Class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Decision Boundary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probability into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Loss Function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for one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Cost Function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loss over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Cross-Entropy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used in 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MLE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best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Gradient Descent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model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029200" cy="5029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 how Logistic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really works.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straight line, to a logit, to a probability, to a trained classifier.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4617720"/>
            <a:ext cx="22860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Logistic Regression Notes</dc:title>
  <dc:subject>PptxGenJS Presentation</dc:subject>
  <dc:creator>Logistic Regression Notes</dc:creator>
  <cp:lastModifiedBy>Logistic Regression Notes</cp:lastModifiedBy>
  <cp:revision>1</cp:revision>
  <dcterms:created xsi:type="dcterms:W3CDTF">2026-07-02T07:31:06Z</dcterms:created>
  <dcterms:modified xsi:type="dcterms:W3CDTF">2026-07-02T07:31:06Z</dcterms:modified>
</cp:coreProperties>
</file>